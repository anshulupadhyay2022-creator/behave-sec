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00E5FF"/>
                </a:solidFill>
                <a:latin typeface="Calibri"/>
              </a:rPr>
              <a:t>BEHAVE-SEC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Behavioral Biometrics Authentication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39FF14"/>
                </a:solidFill>
                <a:latin typeface="Calibri"/>
              </a:rPr>
              <a:t>Your behaviour is your password.</a:t>
            </a:r>
          </a:p>
        </p:txBody>
      </p:sp>
      <p:sp>
        <p:nvSpPr>
          <p:cNvPr id="7" name="Rectangle 6"/>
          <p:cNvSpPr/>
          <p:nvPr/>
        </p:nvSpPr>
        <p:spPr>
          <a:xfrm>
            <a:off x="3047238" y="3566160"/>
            <a:ext cx="6094476" cy="254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74903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E"/>
                </a:solidFill>
                <a:latin typeface="Calibri"/>
              </a:rPr>
              <a:t>Python  ·  FastAPI  ·  C# ASP.NET Core  ·  One-Class SVM  ·  HTML / JS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4434840"/>
            <a:ext cx="2286000" cy="1280160"/>
          </a:xfrm>
          <a:prstGeom prst="rect">
            <a:avLst/>
          </a:prstGeom>
          <a:solidFill>
            <a:srgbClr val="0D1B2A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448056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39FF14"/>
                </a:solidFill>
                <a:latin typeface="Calibri"/>
              </a:rPr>
              <a:t>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50749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E"/>
                </a:solidFill>
                <a:latin typeface="Calibri"/>
              </a:rPr>
              <a:t>Behavioral Features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4434840"/>
            <a:ext cx="2286000" cy="1280160"/>
          </a:xfrm>
          <a:prstGeom prst="rect">
            <a:avLst/>
          </a:prstGeom>
          <a:solidFill>
            <a:srgbClr val="0D1B2A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448056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39FF14"/>
                </a:solidFill>
                <a:latin typeface="Calibri"/>
              </a:rPr>
              <a:t>96%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50749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E"/>
                </a:solidFill>
                <a:latin typeface="Calibri"/>
              </a:rPr>
              <a:t>Balanced Accuracy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4434840"/>
            <a:ext cx="2286000" cy="1280160"/>
          </a:xfrm>
          <a:prstGeom prst="rect">
            <a:avLst/>
          </a:prstGeom>
          <a:solidFill>
            <a:srgbClr val="0D1B2A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448056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39FF14"/>
                </a:solidFill>
                <a:latin typeface="Calibri"/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50749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E"/>
                </a:solidFill>
                <a:latin typeface="Calibri"/>
              </a:rPr>
              <a:t>Owner Acceptance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7B8B"/>
                </a:solidFill>
                <a:latin typeface="Calibri"/>
              </a:rPr>
              <a:t>BEHAVE-SEC  |  Behavioral Biometrics Authentication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6019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7B8B"/>
                </a:solidFill>
                <a:latin typeface="Calibri"/>
              </a:rPr>
              <a:t>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E5FF"/>
                </a:solidFill>
                <a:latin typeface="Calibri"/>
              </a:rPr>
              <a:t>Table of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  <a:latin typeface="Calibri"/>
              </a:rPr>
              <a:t>18 slides covering the full system lifecycle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171" y="1115568"/>
            <a:ext cx="10360609" cy="254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01  Problem Statement &amp; Motivation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19656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02  Project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1343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03  System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0720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04  Feature Engineering — 28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0098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05  ML Algorithm: One-Class SVM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94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06  Anomaly Scoring &amp; Threshold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88536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07  Bot Detection — 2-Layer Defense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78231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08  Active Learning &amp; Feedback 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27608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09  Drift Protection &amp; MFA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325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10  Python FastAPI Microservice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819656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11  C# ASP.NET Core Gateway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31343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12  Frontend &amp; Challenge 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80720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13  Database &amp; Persistence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30098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14  Security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794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15  Testing &amp; Validation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288536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16  Results &amp; Performance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78231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17  Future 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27608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18  Conclusion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1188720"/>
            <a:ext cx="25400" cy="49377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7B8B"/>
                </a:solidFill>
                <a:latin typeface="Calibri"/>
              </a:rPr>
              <a:t>BEHAVE-SEC  |  Behavioral Biometrics Authentication 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6019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7B8B"/>
                </a:solidFill>
                <a:latin typeface="Calibri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E5FF"/>
                </a:solidFill>
                <a:latin typeface="Calibri"/>
              </a:rPr>
              <a:t>Problem Statement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  <a:latin typeface="Calibri"/>
              </a:rPr>
              <a:t>Why passwords alone are no longer enough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171" y="1115568"/>
            <a:ext cx="10360609" cy="254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3657600" cy="4206240"/>
          </a:xfrm>
          <a:prstGeom prst="rect">
            <a:avLst/>
          </a:prstGeom>
          <a:solidFill>
            <a:srgbClr val="0D1B2A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55448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Calibri"/>
              </a:rPr>
              <a:t>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945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6B35"/>
                </a:solidFill>
                <a:latin typeface="Calibri"/>
              </a:rPr>
              <a:t>Credential Theft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B0C4DE"/>
                </a:solidFill>
                <a:latin typeface="Calibri"/>
              </a:rPr>
              <a:t>Passwords can be phished, leaked,
or brute-forced — a static secret
is a single point of failure.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417320"/>
            <a:ext cx="3657600" cy="4206240"/>
          </a:xfrm>
          <a:prstGeom prst="rect">
            <a:avLst/>
          </a:prstGeom>
          <a:solidFill>
            <a:srgbClr val="0D1B2A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55448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Calibri"/>
              </a:rPr>
              <a:t>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1945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6B35"/>
                </a:solidFill>
                <a:latin typeface="Calibri"/>
              </a:rPr>
              <a:t>Bot &amp; Automated Attacks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69748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B0C4DE"/>
                </a:solidFill>
                <a:latin typeface="Calibri"/>
              </a:rPr>
              <a:t>Modern bots mimic human logins
with stolen credentials, evading
traditional detection systems.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417320"/>
            <a:ext cx="3657600" cy="4206240"/>
          </a:xfrm>
          <a:prstGeom prst="rect">
            <a:avLst/>
          </a:prstGeom>
          <a:solidFill>
            <a:srgbClr val="0D1B2A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55448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Calibri"/>
              </a:rPr>
              <a:t>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1945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6B35"/>
                </a:solidFill>
                <a:latin typeface="Calibri"/>
              </a:rPr>
              <a:t>Account Takeover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69748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B0C4DE"/>
                </a:solidFill>
                <a:latin typeface="Calibri"/>
              </a:rPr>
              <a:t>Even 2FA can be bypassed via SIM
swapping or social engineering;
behavioral patterns cannot be copied.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760720"/>
            <a:ext cx="11430000" cy="731520"/>
          </a:xfrm>
          <a:prstGeom prst="rect">
            <a:avLst/>
          </a:prstGeom>
          <a:solidFill>
            <a:srgbClr val="002A1A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806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9FF14"/>
                </a:solidFill>
                <a:latin typeface="Calibri"/>
              </a:rPr>
              <a:t>✅  BEHAVE-SEC Solution:  Continuous, passive behavioral authentication — your typing rhythm and mouse movement ARE your identity.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7B8B"/>
                </a:solidFill>
                <a:latin typeface="Calibri"/>
              </a:rPr>
              <a:t>BEHAVE-SEC  |  Behavioral Biometrics Authentication 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6019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7B8B"/>
                </a:solidFill>
                <a:latin typeface="Calibri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E5FF"/>
                </a:solidFill>
                <a:latin typeface="Calibri"/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  <a:latin typeface="Calibri"/>
              </a:rPr>
              <a:t>What BEHAVE-SEC does — end to 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171" y="1115568"/>
            <a:ext cx="10360609" cy="254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3749039" cy="4937760"/>
          </a:xfrm>
          <a:prstGeom prst="rect">
            <a:avLst/>
          </a:prstGeom>
          <a:solidFill>
            <a:srgbClr val="0D1B2A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5087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00E5FF"/>
                </a:solidFill>
                <a:latin typeface="Calibri"/>
              </a:rPr>
              <a:t>🎯  Core Concept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4476" y="2011680"/>
            <a:ext cx="0" cy="254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993392"/>
            <a:ext cx="3474720" cy="1905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148840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▸  Behavioral biometrics: identity from how
you type and move the mouse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862072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▸  Passive, continuous, invisible to the user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575304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▸  Works as a silent 2nd authentication factor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9" y="1417320"/>
            <a:ext cx="3749039" cy="4937760"/>
          </a:xfrm>
          <a:prstGeom prst="rect">
            <a:avLst/>
          </a:prstGeom>
          <a:solidFill>
            <a:srgbClr val="0D1B2A"/>
          </a:solidFill>
          <a:ln w="2540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399" y="15087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39FF14"/>
                </a:solidFill>
                <a:latin typeface="Calibri"/>
              </a:rPr>
              <a:t>⚙️  Key Capabilities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4476" y="2011680"/>
            <a:ext cx="0" cy="2540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399" y="1993392"/>
            <a:ext cx="3474720" cy="1905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19" y="2148840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▸  28-feature multimodal behavioral fingerprint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19" y="2862072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▸  Per-user One-Class SVM: 96% accuracy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19" y="3575304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▸  Real-time anomaly scoring &lt; 50 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19" y="4288536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▸  Active learning — model improves over time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1417320"/>
            <a:ext cx="3749039" cy="4937760"/>
          </a:xfrm>
          <a:prstGeom prst="rect">
            <a:avLst/>
          </a:prstGeom>
          <a:solidFill>
            <a:srgbClr val="0D1B2A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15087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FF6B35"/>
                </a:solidFill>
                <a:latin typeface="Calibri"/>
              </a:rPr>
              <a:t>🛡️  Security Layers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4476" y="2011680"/>
            <a:ext cx="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21040" y="1993392"/>
            <a:ext cx="3474720" cy="1905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66760" y="2148840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▸  Bot detection: global ML + kinematic check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2862072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▸  Behavioral drift / poisoning protection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3575304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▸  Step-up MFA triggered on anomaly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288536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▸  JWT-secured REST API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7B8B"/>
                </a:solidFill>
                <a:latin typeface="Calibri"/>
              </a:rPr>
              <a:t>BEHAVE-SEC  |  Behavioral Biometrics Authentication System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6019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7B8B"/>
                </a:solidFill>
                <a:latin typeface="Calibri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E5FF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  <a:latin typeface="Calibri"/>
              </a:rPr>
              <a:t>Three-tier full-stack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171" y="1115568"/>
            <a:ext cx="10360609" cy="254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11430000" cy="1417320"/>
          </a:xfrm>
          <a:prstGeom prst="rect">
            <a:avLst/>
          </a:prstGeom>
          <a:solidFill>
            <a:srgbClr val="0D1B2A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137160" cy="14173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4475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FF"/>
                </a:solidFill>
                <a:latin typeface="Calibri"/>
              </a:rPr>
              <a:t>🌐  Frontend (Browser)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47088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07B8B"/>
                </a:solidFill>
                <a:latin typeface="Calibri"/>
              </a:rPr>
              <a:t>HTML / CSS / JavaScript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5087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Calibri"/>
              </a:rPr>
              <a:t>Captures keydown, keyup,
mousemove, click, scroll events
and POSTs JSON to C#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28346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E5FF"/>
                </a:solidFill>
                <a:latin typeface="Calibri"/>
              </a:rPr>
              <a:t>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971800"/>
            <a:ext cx="11430000" cy="1417320"/>
          </a:xfrm>
          <a:prstGeom prst="rect">
            <a:avLst/>
          </a:prstGeom>
          <a:solidFill>
            <a:srgbClr val="0D1B2A"/>
          </a:solidFill>
          <a:ln w="2540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971800"/>
            <a:ext cx="137160" cy="141732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04495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9FF14"/>
                </a:solidFill>
                <a:latin typeface="Calibri"/>
              </a:rPr>
              <a:t>⚙️  C# ASP.NET Core Gateway  (Port 5000)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447288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07B8B"/>
                </a:solidFill>
                <a:latin typeface="Calibri"/>
              </a:rPr>
              <a:t>BehaveSec.API — AuthController | BehavioralController | StatsController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1089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Calibri"/>
              </a:rPr>
              <a:t>User auth (JWT) · SQLite DB
Proxy behavioral data to Python
SignalR real-time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4434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E5FF"/>
                </a:solidFill>
                <a:latin typeface="Calibri"/>
              </a:rPr>
              <a:t>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572000"/>
            <a:ext cx="11430000" cy="1417320"/>
          </a:xfrm>
          <a:prstGeom prst="rect">
            <a:avLst/>
          </a:prstGeom>
          <a:solidFill>
            <a:srgbClr val="0D1B2A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4572000"/>
            <a:ext cx="137160" cy="14173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64515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35"/>
                </a:solidFill>
                <a:latin typeface="Calibri"/>
              </a:rPr>
              <a:t>🧠  Python FastAPI ML Service  (Port 8000)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047488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07B8B"/>
                </a:solidFill>
                <a:latin typeface="Calibri"/>
              </a:rPr>
              <a:t>FastAPI — /collect-data | /model/retrain | /model/feedback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47091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Calibri"/>
              </a:rPr>
              <a:t>Feature extraction (28 features)
One-Class SVM scoring
Model persistence via joblib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7B8B"/>
                </a:solidFill>
                <a:latin typeface="Calibri"/>
              </a:rPr>
              <a:t>BEHAVE-SEC  |  Behavioral Biometrics Authentication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6019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7B8B"/>
                </a:solidFill>
                <a:latin typeface="Calibri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E5FF"/>
                </a:solidFill>
                <a:latin typeface="Calibri"/>
              </a:rPr>
              <a:t>Feature Engineering — 28 Behavioral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  <a:latin typeface="Calibri"/>
              </a:rPr>
              <a:t>Multimodal fingerprint: keyboard + mouse dynamics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171" y="1115568"/>
            <a:ext cx="10360609" cy="254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371600"/>
            <a:ext cx="3749039" cy="5074920"/>
          </a:xfrm>
          <a:prstGeom prst="rect">
            <a:avLst/>
          </a:prstGeom>
          <a:solidFill>
            <a:srgbClr val="0D1B2A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371600"/>
            <a:ext cx="3749039" cy="43891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389888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0A14"/>
                </a:solidFill>
                <a:latin typeface="Calibri"/>
              </a:rPr>
              <a:t>⌨️  Keyboard Features  (10)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92807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  1.  Avg / Std Key Hold (Dwell) Time  [ms]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761487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  2.  Avg / Std Inter-Key Interval (IKI)  [ms]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3630168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  3.  Avg / Std Digraph Flight Time  [ms]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4498848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  4.  Avg / Std Digraph Duration  [ms]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5367527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  5.  Avg / Std Hold-to-Flight Ratio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24528" y="1371600"/>
            <a:ext cx="3749039" cy="5074920"/>
          </a:xfrm>
          <a:prstGeom prst="rect">
            <a:avLst/>
          </a:prstGeom>
          <a:solidFill>
            <a:srgbClr val="0D1B2A"/>
          </a:solidFill>
          <a:ln w="2540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24528" y="1371600"/>
            <a:ext cx="3749039" cy="438912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15968" y="1389888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0A14"/>
                </a:solidFill>
                <a:latin typeface="Calibri"/>
              </a:rPr>
              <a:t>🖱️  Mouse Features  (8)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5968" y="1892807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  1.  Avg / Std Mouse Speed  [px/ms]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5968" y="2761487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  2.  Avg / Std Mouse Acceleration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5968" y="3630168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  3.  Path Directness Ratio  (bot detector!)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5968" y="4498848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  4.  Avg / Std Click Interval  [ms]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5968" y="5367527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  5.  Click Precision (spatial dispersion)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0456" y="1371600"/>
            <a:ext cx="3749039" cy="5074920"/>
          </a:xfrm>
          <a:prstGeom prst="rect">
            <a:avLst/>
          </a:prstGeom>
          <a:solidFill>
            <a:srgbClr val="0D1B2A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0456" y="1371600"/>
            <a:ext cx="3749039" cy="43891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11896" y="1389888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0A14"/>
                </a:solidFill>
                <a:latin typeface="Calibri"/>
              </a:rPr>
              <a:t>📊  Session Features  (10)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1896" y="1892807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  1.  Total Events, Keydown, Keyup counts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11896" y="2761487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  2.  Mousemove, Click, Scroll counts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11896" y="3630168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  3.  Session Duration  [ms]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1896" y="4498848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  4.  Events per Second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1896" y="5367527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  5.  Key Event Ratio / Mouse Event Ratio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7B8B"/>
                </a:solidFill>
                <a:latin typeface="Calibri"/>
              </a:rPr>
              <a:t>BEHAVE-SEC  |  Behavioral Biometrics Authentication System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6019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7B8B"/>
                </a:solidFill>
                <a:latin typeface="Calibri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E5FF"/>
                </a:solidFill>
                <a:latin typeface="Calibri"/>
              </a:rPr>
              <a:t>ML Algorithm: One-Class SVM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  <a:latin typeface="Calibri"/>
              </a:rPr>
              <a:t>Per-user behavioral model — learned from YOUR sessions only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171" y="1115568"/>
            <a:ext cx="10360609" cy="254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80160"/>
            <a:ext cx="5669280" cy="4846320"/>
          </a:xfrm>
          <a:prstGeom prst="rect">
            <a:avLst/>
          </a:prstGeom>
          <a:solidFill>
            <a:srgbClr val="0D1B2A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89888"/>
            <a:ext cx="5394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00E5FF"/>
                </a:solidFill>
                <a:latin typeface="Calibri"/>
              </a:rPr>
              <a:t>Why One-Class SVM?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▸ Only the OWNER's sessions are used for training — no
need for labelled intruder data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▸ RBF kernel creates a tight non-linear boundary around
the owner's behavioral cluster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▸ Outperforms Isolation Forest at low-contamination
settings (validated via grid-search)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▸ Thread-safe, per-user model with persistence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280160"/>
            <a:ext cx="5623560" cy="2743200"/>
          </a:xfrm>
          <a:prstGeom prst="rect">
            <a:avLst/>
          </a:prstGeom>
          <a:solidFill>
            <a:srgbClr val="0D1B2A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389888"/>
            <a:ext cx="5349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00E5FF"/>
                </a:solidFill>
                <a:latin typeface="Calibri"/>
              </a:rPr>
              <a:t>Tuned Hyperparameters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▸ nu = 0.01   →  tight boundary, 1% outlier allowance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▸ gamma = 'scale'  →  auto-scales with feature variance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▸ StandardScaler applied to 22 biometric features
(zero-mean / unit-variance normalization)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▸ Training features:  indices [6:28]  (biometrics only)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▸ Min samples to train:  10 sessions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4160520"/>
            <a:ext cx="5623560" cy="1828800"/>
          </a:xfrm>
          <a:prstGeom prst="rect">
            <a:avLst/>
          </a:prstGeom>
          <a:solidFill>
            <a:srgbClr val="002A0A"/>
          </a:solidFill>
          <a:ln w="2540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2519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9FF14"/>
                </a:solidFill>
                <a:latin typeface="Calibri"/>
              </a:rPr>
              <a:t>✅  Validated 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681728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FFFFFF"/>
                </a:solidFill>
                <a:latin typeface="Calibri"/>
              </a:rPr>
              <a:t>96%  Balanced Accuracy
100%  Owner Acceptance Rate
92%  Intruder Rejection Rate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7B8B"/>
                </a:solidFill>
                <a:latin typeface="Calibri"/>
              </a:rPr>
              <a:t>BEHAVE-SEC  |  Behavioral Biometrics Authentication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6019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7B8B"/>
                </a:solidFill>
                <a:latin typeface="Calibri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E5FF"/>
                </a:solidFill>
                <a:latin typeface="Calibri"/>
              </a:rPr>
              <a:t>Anomaly Scoring &amp; Threshold Calibration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  <a:latin typeface="Calibri"/>
              </a:rPr>
              <a:t>Sigmoid-mapped decision boundary → calibrated probability-like score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171" y="1115568"/>
            <a:ext cx="10360609" cy="254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417320"/>
            <a:ext cx="1828800" cy="1691640"/>
          </a:xfrm>
          <a:prstGeom prst="rect">
            <a:avLst/>
          </a:prstGeom>
          <a:solidFill>
            <a:srgbClr val="0D1B2A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14630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00E5FF"/>
                </a:solidFill>
                <a:latin typeface="Calibri"/>
              </a:rPr>
              <a:t>Raw Events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993392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0C4DE"/>
                </a:solidFill>
                <a:latin typeface="Calibri"/>
              </a:rPr>
              <a:t>keydown / keyup /
mousemove / click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737360"/>
            <a:ext cx="228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E5FF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21992" y="1417320"/>
            <a:ext cx="1828800" cy="1691640"/>
          </a:xfrm>
          <a:prstGeom prst="rect">
            <a:avLst/>
          </a:prstGeom>
          <a:solidFill>
            <a:srgbClr val="0D1B2A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21992" y="14630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39FF14"/>
                </a:solidFill>
                <a:latin typeface="Calibri"/>
              </a:rPr>
              <a:t>Feature Vector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21992" y="1993392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0C4DE"/>
                </a:solidFill>
                <a:latin typeface="Calibri"/>
              </a:rPr>
              <a:t>28-dim  np.ndarray
via extract_features()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13632" y="1737360"/>
            <a:ext cx="228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E5FF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15384" y="1417320"/>
            <a:ext cx="1828800" cy="1691640"/>
          </a:xfrm>
          <a:prstGeom prst="rect">
            <a:avLst/>
          </a:prstGeom>
          <a:solidFill>
            <a:srgbClr val="0D1B2A"/>
          </a:solidFill>
          <a:ln w="190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15384" y="14630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B0C4DE"/>
                </a:solidFill>
                <a:latin typeface="Calibri"/>
              </a:rPr>
              <a:t>StandardScaler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15384" y="1993392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0C4DE"/>
                </a:solidFill>
                <a:latin typeface="Calibri"/>
              </a:rPr>
              <a:t>Zero-mean
Unit-variance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7024" y="1737360"/>
            <a:ext cx="228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E5FF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8776" y="1417320"/>
            <a:ext cx="1828800" cy="1691640"/>
          </a:xfrm>
          <a:prstGeom prst="rect">
            <a:avLst/>
          </a:prstGeom>
          <a:solidFill>
            <a:srgbClr val="0D1B2A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08776" y="14630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6B35"/>
                </a:solidFill>
                <a:latin typeface="Calibri"/>
              </a:rPr>
              <a:t>OCSVM
decision_function()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08776" y="1993392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0C4DE"/>
                </a:solidFill>
                <a:latin typeface="Calibri"/>
              </a:rPr>
              <a:t>raw_score &gt; 0   owner
raw_score &lt; 0   anomaly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0416" y="1737360"/>
            <a:ext cx="228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E5FF"/>
                </a:solidFill>
                <a:latin typeface="Calibr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02168" y="1417320"/>
            <a:ext cx="1828800" cy="1691640"/>
          </a:xfrm>
          <a:prstGeom prst="rect">
            <a:avLst/>
          </a:prstGeom>
          <a:solidFill>
            <a:srgbClr val="0D1B2A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02168" y="14630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00E5FF"/>
                </a:solidFill>
                <a:latin typeface="Calibri"/>
              </a:rPr>
              <a:t>Sigmoid Map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02168" y="1993392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0C4DE"/>
                </a:solidFill>
                <a:latin typeface="Calibri"/>
              </a:rPr>
              <a:t>score = 1/(1+exp(8·raw))
slope=8, offset=0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93808" y="1737360"/>
            <a:ext cx="228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E5FF"/>
                </a:solidFill>
                <a:latin typeface="Calibr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195560" y="1417320"/>
            <a:ext cx="1828800" cy="1691640"/>
          </a:xfrm>
          <a:prstGeom prst="rect">
            <a:avLst/>
          </a:prstGeom>
          <a:solidFill>
            <a:srgbClr val="0D1B2A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95560" y="14630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39FF14"/>
                </a:solidFill>
                <a:latin typeface="Calibri"/>
              </a:rPr>
              <a:t>Threshold
0.55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95560" y="1993392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B0C4DE"/>
                </a:solidFill>
                <a:latin typeface="Calibri"/>
              </a:rPr>
              <a:t>&lt; 0.55  →  NORMAL
≥ 0.55  →  ANOMALY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337560"/>
            <a:ext cx="3200400" cy="38404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334670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0A14"/>
                </a:solidFill>
                <a:latin typeface="Calibri"/>
              </a:rPr>
              <a:t>Session Type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66160" y="3337560"/>
            <a:ext cx="1828800" cy="38404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11880" y="334670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0A14"/>
                </a:solidFill>
                <a:latin typeface="Calibri"/>
              </a:rPr>
              <a:t>Raw Score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94960" y="3337560"/>
            <a:ext cx="2286000" cy="38404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40680" y="334670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0A14"/>
                </a:solidFill>
                <a:latin typeface="Calibri"/>
              </a:rPr>
              <a:t>Sigmoid Score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80960" y="3337560"/>
            <a:ext cx="1828800" cy="38404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26680" y="334670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0A14"/>
                </a:solidFill>
                <a:latin typeface="Calibri"/>
              </a:rPr>
              <a:t>Label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721608"/>
            <a:ext cx="3200400" cy="5303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3739896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Owner session (normal)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66160" y="3721608"/>
            <a:ext cx="1828800" cy="5303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11880" y="3739896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&gt; 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94960" y="3721608"/>
            <a:ext cx="2286000" cy="5303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40680" y="3739896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&lt; 0.49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680960" y="3721608"/>
            <a:ext cx="1828800" cy="5303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26680" y="3739896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9FF14"/>
                </a:solidFill>
                <a:latin typeface="Calibri"/>
              </a:rPr>
              <a:t>normal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4270248"/>
            <a:ext cx="3200400" cy="530352"/>
          </a:xfrm>
          <a:prstGeom prst="rect">
            <a:avLst/>
          </a:prstGeom>
          <a:solidFill>
            <a:srgbClr val="0A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1480" y="4288536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Intruder session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66160" y="4270248"/>
            <a:ext cx="1828800" cy="530352"/>
          </a:xfrm>
          <a:prstGeom prst="rect">
            <a:avLst/>
          </a:prstGeom>
          <a:solidFill>
            <a:srgbClr val="0A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11880" y="4288536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&lt; 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94960" y="4270248"/>
            <a:ext cx="2286000" cy="530352"/>
          </a:xfrm>
          <a:prstGeom prst="rect">
            <a:avLst/>
          </a:prstGeom>
          <a:solidFill>
            <a:srgbClr val="0A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40680" y="4288536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&gt; 0.55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680960" y="4270248"/>
            <a:ext cx="1828800" cy="530352"/>
          </a:xfrm>
          <a:prstGeom prst="rect">
            <a:avLst/>
          </a:prstGeom>
          <a:solidFill>
            <a:srgbClr val="0A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26680" y="4288536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  <a:latin typeface="Calibri"/>
              </a:rPr>
              <a:t>anomaly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4818888"/>
            <a:ext cx="3200400" cy="5303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80" y="4837176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Decision boundary edge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566160" y="4818888"/>
            <a:ext cx="1828800" cy="5303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11880" y="4837176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≈ 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394960" y="4818888"/>
            <a:ext cx="2286000" cy="5303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40680" y="4837176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≈ 0.50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680960" y="4818888"/>
            <a:ext cx="1828800" cy="5303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726680" y="4837176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0C4DE"/>
                </a:solidFill>
                <a:latin typeface="Calibri"/>
              </a:rPr>
              <a:t>borderline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5760" y="57607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607B8B"/>
                </a:solidFill>
                <a:latin typeface="Calibri"/>
              </a:rPr>
              <a:t>Formula:   score = 1 / (1 + exp(slope × raw_score + offset))     where slope = 8.0,  offset = 0.0  (MUST be 0)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7B8B"/>
                </a:solidFill>
                <a:latin typeface="Calibri"/>
              </a:rPr>
              <a:t>BEHAVE-SEC  |  Behavioral Biometrics Authentication System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064240" y="66019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7B8B"/>
                </a:solidFill>
                <a:latin typeface="Calibri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E5FF"/>
                </a:solidFill>
                <a:latin typeface="Calibri"/>
              </a:rPr>
              <a:t>Bot Detection — Two-Layer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  <a:latin typeface="Calibri"/>
              </a:rPr>
              <a:t>Discriminating bots from humans independently of the personal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171" y="1115568"/>
            <a:ext cx="10360609" cy="254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11521440" cy="2103120"/>
          </a:xfrm>
          <a:prstGeom prst="rect">
            <a:avLst/>
          </a:prstGeom>
          <a:solidFill>
            <a:srgbClr val="0D1B2A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137160" cy="21031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E5FF"/>
                </a:solidFill>
                <a:latin typeface="Calibri"/>
              </a:rPr>
              <a:t>Layer 1  —  Global Human Baseline Model  (global_human_model.pkl)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10512"/>
            <a:ext cx="109728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▸  A shared OneClassSVM trained on a population of HUMAN sessions (keyboard rhythm features [6,7,8,9,16,17])
▸  Classifies any session:  human (+1)  or  bot (−1)
▸  Humanity score normalized via sigmoid:  score = 1 / (1 + exp(−2 × raw))
▸  Applied even BEFORE the personal model is trained (cold-start bot protection)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611880"/>
            <a:ext cx="11521440" cy="2103120"/>
          </a:xfrm>
          <a:prstGeom prst="rect">
            <a:avLst/>
          </a:prstGeom>
          <a:solidFill>
            <a:srgbClr val="0D1B2A"/>
          </a:solidFill>
          <a:ln w="2540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3611880"/>
            <a:ext cx="137160" cy="210312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657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9FF14"/>
                </a:solidFill>
                <a:latin typeface="Calibri"/>
              </a:rPr>
              <a:t>Layer 2  —  Deterministic Kinematic Check  (Zero-Day Rule)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096512"/>
            <a:ext cx="109728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▸  Condition:   mousemove_count &gt; 10   AND   path_directness_ratio ≥ 0.999
▸  Humans naturally curve their mouse; bots move in mathematically perfect straight lines
▸  Ratio = straight-line distance / actual path length.   Human range: 0.3 – 0.85
▸  Instant override:  no training required — catches even novel zero-day bots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788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9FF14"/>
                </a:solidFill>
                <a:latin typeface="Calibri"/>
              </a:rPr>
              <a:t>Result label:  "bot (kinematic pattern)"   |   Humanity Score = 0.0   |   100% detection rate on scripted bots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7B8B"/>
                </a:solidFill>
                <a:latin typeface="Calibri"/>
              </a:rPr>
              <a:t>BEHAVE-SEC  |  Behavioral Biometrics Authentication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6019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7B8B"/>
                </a:solidFill>
                <a:latin typeface="Calibri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E5FF"/>
                </a:solidFill>
                <a:latin typeface="Calibri"/>
              </a:rPr>
              <a:t>Active Learning &amp; Feedback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  <a:latin typeface="Calibri"/>
              </a:rPr>
              <a:t>The model gets smarter every time you use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171" y="1115568"/>
            <a:ext cx="10360609" cy="254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2240280" cy="4069080"/>
          </a:xfrm>
          <a:prstGeom prst="rect">
            <a:avLst/>
          </a:prstGeom>
          <a:solidFill>
            <a:srgbClr val="0D1B2A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50876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1️⃣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0312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E5FF"/>
                </a:solidFill>
                <a:latin typeface="Calibri"/>
              </a:rPr>
              <a:t>Session Submitted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606040"/>
            <a:ext cx="2057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B0C4DE"/>
                </a:solidFill>
                <a:latin typeface="Calibri"/>
              </a:rPr>
              <a:t>User completes the Intruder Challenge;
behavioral events sent to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8346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E5FF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1417320"/>
            <a:ext cx="2240280" cy="4069080"/>
          </a:xfrm>
          <a:prstGeom prst="rect">
            <a:avLst/>
          </a:prstGeom>
          <a:solidFill>
            <a:srgbClr val="0D1B2A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60" y="150876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2️⃣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10312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9FF14"/>
                </a:solidFill>
                <a:latin typeface="Calibri"/>
              </a:rPr>
              <a:t>Model Scores Session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606040"/>
            <a:ext cx="2057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B0C4DE"/>
                </a:solidFill>
                <a:latin typeface="Calibri"/>
              </a:rPr>
              <a:t>OCSVM returns anomaly score;
labeled 'normal' or 'anomaly'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8346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E5FF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1417320"/>
            <a:ext cx="2240280" cy="4069080"/>
          </a:xfrm>
          <a:prstGeom prst="rect">
            <a:avLst/>
          </a:prstGeom>
          <a:solidFill>
            <a:srgbClr val="0D1B2A"/>
          </a:solidFill>
          <a:ln w="190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150876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3️⃣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10312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0C4DE"/>
                </a:solidFill>
                <a:latin typeface="Calibri"/>
              </a:rPr>
              <a:t>User Labels Result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606040"/>
            <a:ext cx="2057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B0C4DE"/>
                </a:solidFill>
                <a:latin typeface="Calibri"/>
              </a:rPr>
              <a:t>User confirms:  'This was ME'
or  'This was an INTRUDER'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28346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E5FF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06640" y="1417320"/>
            <a:ext cx="2240280" cy="4069080"/>
          </a:xfrm>
          <a:prstGeom prst="rect">
            <a:avLst/>
          </a:prstGeom>
          <a:solidFill>
            <a:srgbClr val="0D1B2A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0" y="150876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4️⃣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210312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6B35"/>
                </a:solidFill>
                <a:latin typeface="Calibri"/>
              </a:rPr>
              <a:t>Feedback Ingested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0" y="2606040"/>
            <a:ext cx="2057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B0C4DE"/>
                </a:solidFill>
                <a:latin typeface="Calibri"/>
              </a:rPr>
              <a:t>Owner sessions added to buffer;
model retrained instantly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28346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E5FF"/>
                </a:solidFill>
                <a:latin typeface="Calibr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84080" y="1417320"/>
            <a:ext cx="2240280" cy="4069080"/>
          </a:xfrm>
          <a:prstGeom prst="rect">
            <a:avLst/>
          </a:prstGeom>
          <a:solidFill>
            <a:srgbClr val="0D1B2A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0" y="150876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5️⃣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210312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9FF14"/>
                </a:solidFill>
                <a:latin typeface="Calibri"/>
              </a:rPr>
              <a:t>Model Improves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2606040"/>
            <a:ext cx="2057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B0C4DE"/>
                </a:solidFill>
                <a:latin typeface="Calibri"/>
              </a:rPr>
              <a:t>Accuracy increases monotonically
with each labeled session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5577840"/>
            <a:ext cx="11521440" cy="621792"/>
          </a:xfrm>
          <a:prstGeom prst="rect">
            <a:avLst/>
          </a:prstGeom>
          <a:solidFill>
            <a:srgbClr val="201000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623560"/>
            <a:ext cx="11155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6B35"/>
                </a:solidFill>
                <a:latin typeface="Calibri"/>
              </a:rPr>
              <a:t>🔒  Security note:  Intruder feedback is IGNORED for training — only confirmed owner sessions are added to avoid model poisoning.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7B8B"/>
                </a:solidFill>
                <a:latin typeface="Calibri"/>
              </a:rPr>
              <a:t>BEHAVE-SEC  |  Behavioral Biometrics Authentication System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64240" y="66019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7B8B"/>
                </a:solidFill>
                <a:latin typeface="Calibri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E5FF"/>
                </a:solidFill>
                <a:latin typeface="Calibri"/>
              </a:rPr>
              <a:t>Behavioral Drift Protection &amp; Step-Up MFA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  <a:latin typeface="Calibri"/>
              </a:rPr>
              <a:t>Defending against model poisoning attacks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171" y="1115568"/>
            <a:ext cx="10360609" cy="254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5669280" cy="3200400"/>
          </a:xfrm>
          <a:prstGeom prst="rect">
            <a:avLst/>
          </a:prstGeom>
          <a:solidFill>
            <a:srgbClr val="0D1B2A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35608"/>
            <a:ext cx="53949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FF6B35"/>
                </a:solidFill>
                <a:latin typeface="Calibri"/>
              </a:rPr>
              <a:t>The Attack: Model Poisoning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▸ An attacker who steals credentials might try to
label their own sessions as 'owner' feedback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▸ Over many rounds, this could shift the model's
boundary to accept the attacker's behavior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▸ Standard active-learning systems have no defense
against this slow poisoning strategy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325880"/>
            <a:ext cx="5623560" cy="3200400"/>
          </a:xfrm>
          <a:prstGeom prst="rect">
            <a:avLst/>
          </a:prstGeom>
          <a:solidFill>
            <a:srgbClr val="0D1B2A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435608"/>
            <a:ext cx="53492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00E5FF"/>
                </a:solidFill>
                <a:latin typeface="Calibri"/>
              </a:rPr>
              <a:t>BEHAVE-SEC Defense: Cosine Similarity Drift Check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▸ Master Centroid  =  mean feature vector of all
owner training sessions stored on disk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▸ Before accepting feedback, compute cosine
similarity between new session and centroid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▸ If similarity &lt; DRIFT_SIMILARITY_THRESHOLD
→ feedback REJECTED + Step-Up MFA triggered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▸ Challenge users (bypass_drift=True) are exempt
— they are in enrollment phase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4663440"/>
            <a:ext cx="11521440" cy="1417320"/>
          </a:xfrm>
          <a:prstGeom prst="rect">
            <a:avLst/>
          </a:prstGeom>
          <a:solidFill>
            <a:srgbClr val="0D1B2A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470916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FF"/>
                </a:solidFill>
                <a:latin typeface="Calibri"/>
              </a:rPr>
              <a:t>Step-Up MFA Response  (HTTP 200 + mfa_required status)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120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B0C4DE"/>
                </a:solidFill>
                <a:latin typeface="Calibri"/>
              </a:rPr>
              <a:t>{ "success": false,  "status": "mfa_required",  "message": "Behavioral signature mismatch. Step-up authentication required to verify this update." 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7B8B"/>
                </a:solidFill>
                <a:latin typeface="Calibri"/>
              </a:rPr>
              <a:t>BEHAVE-SEC  |  Behavioral Biometrics Authentication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6019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7B8B"/>
                </a:solidFill>
                <a:latin typeface="Calibri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E5FF"/>
                </a:solidFill>
                <a:latin typeface="Calibri"/>
              </a:rPr>
              <a:t>Python FastAPI ML Microservice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  <a:latin typeface="Calibri"/>
              </a:rPr>
              <a:t>Pure ML service — stateless HTTP endpoints, stateful model on disk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171" y="1115568"/>
            <a:ext cx="10360609" cy="254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1152144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777240" cy="7315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481328"/>
            <a:ext cx="777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0A14"/>
                </a:solidFill>
                <a:latin typeface="Calibri"/>
              </a:rPr>
              <a:t>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417320"/>
            <a:ext cx="2926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/collect-data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417320"/>
            <a:ext cx="7406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Calibri"/>
              </a:rPr>
              <a:t>Ingest events → extract 28 features → score OCSVM → return anomaly result JSON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112264"/>
            <a:ext cx="1152144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2112264"/>
            <a:ext cx="777240" cy="7315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2267712"/>
            <a:ext cx="777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0A14"/>
                </a:solidFill>
                <a:latin typeface="Calibri"/>
              </a:rPr>
              <a:t>POST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203704"/>
            <a:ext cx="2926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/signup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203704"/>
            <a:ext cx="7406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Calibri"/>
              </a:rPr>
              <a:t>Register a new user; initialize their AnomalyDetector instance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898648"/>
            <a:ext cx="1152144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898648"/>
            <a:ext cx="777240" cy="7315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3054096"/>
            <a:ext cx="777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0A14"/>
                </a:solidFill>
                <a:latin typeface="Calibri"/>
              </a:rPr>
              <a:t>POST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2990088"/>
            <a:ext cx="2926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/login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2990088"/>
            <a:ext cx="7406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Calibri"/>
              </a:rPr>
              <a:t>Verify credentials + behavioral signature via verify_login_signature()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685032"/>
            <a:ext cx="1152144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3685032"/>
            <a:ext cx="777240" cy="7315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3840480"/>
            <a:ext cx="777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0A14"/>
                </a:solidFill>
                <a:latin typeface="Calibri"/>
              </a:rPr>
              <a:t>POST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3776472"/>
            <a:ext cx="2926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/model/feedback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3776472"/>
            <a:ext cx="7406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Calibri"/>
              </a:rPr>
              <a:t>Active learning: add owner session to buffer → auto-retrain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471416"/>
            <a:ext cx="1152144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471416"/>
            <a:ext cx="777240" cy="7315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4626864"/>
            <a:ext cx="777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0A14"/>
                </a:solidFill>
                <a:latin typeface="Calibri"/>
              </a:rPr>
              <a:t>POST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4562856"/>
            <a:ext cx="2926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/model/retrain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4562856"/>
            <a:ext cx="7406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Calibri"/>
              </a:rPr>
              <a:t>Force retrain on all buffered data (explicit trigger)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257800"/>
            <a:ext cx="1152144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" y="5257800"/>
            <a:ext cx="777240" cy="73152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5413248"/>
            <a:ext cx="777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0A14"/>
                </a:solidFill>
                <a:latin typeface="Calibri"/>
              </a:rPr>
              <a:t>GET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5349240"/>
            <a:ext cx="2926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/model/status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0" y="5349240"/>
            <a:ext cx="7406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Calibri"/>
              </a:rPr>
              <a:t>Return training state: is_trained, buffer_size, min_samples, model_path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0807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607B8B"/>
                </a:solidFill>
                <a:latin typeface="Calibri"/>
              </a:rPr>
              <a:t>ModelManager singleton — one AnomalyDetector per user_id — thread-safe via threading.Lock()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7B8B"/>
                </a:solidFill>
                <a:latin typeface="Calibri"/>
              </a:rPr>
              <a:t>BEHAVE-SEC  |  Behavioral Biometrics Authentication System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66019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7B8B"/>
                </a:solidFill>
                <a:latin typeface="Calibri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E5FF"/>
                </a:solidFill>
                <a:latin typeface="Calibri"/>
              </a:rPr>
              <a:t>C# ASP.NET Core Gateway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  <a:latin typeface="Calibri"/>
              </a:rPr>
              <a:t>Application layer — auth, routing, real-time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171" y="1115568"/>
            <a:ext cx="10360609" cy="254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5623560" cy="1828800"/>
          </a:xfrm>
          <a:prstGeom prst="rect">
            <a:avLst/>
          </a:prstGeom>
          <a:solidFill>
            <a:srgbClr val="0D1B2A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35608"/>
            <a:ext cx="5349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00E5FF"/>
                </a:solidFill>
                <a:latin typeface="Calibri"/>
              </a:rPr>
              <a:t>AuthController.cs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▸ POST  /api/auth/signup  — register user + hash password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▸ POST  /api/auth/login   — validate credentials + issue JWT token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▸ Behavioral events captured at login for signature verification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325880"/>
            <a:ext cx="5623560" cy="1828800"/>
          </a:xfrm>
          <a:prstGeom prst="rect">
            <a:avLst/>
          </a:prstGeom>
          <a:solidFill>
            <a:srgbClr val="0D1B2A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435608"/>
            <a:ext cx="5349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00E5FF"/>
                </a:solidFill>
                <a:latin typeface="Calibri"/>
              </a:rPr>
              <a:t>BehavioralController.cs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▸ POST  /api/behavioral/collect  — proxy events to Python ML service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▸ POST  /api/behavioral/feedback — relay user label to ML feedback endpoint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▸ Returns combined identity + bot detection scores to frontend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337560"/>
            <a:ext cx="5623560" cy="1737360"/>
          </a:xfrm>
          <a:prstGeom prst="rect">
            <a:avLst/>
          </a:prstGeom>
          <a:solidFill>
            <a:srgbClr val="0D1B2A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447288"/>
            <a:ext cx="5349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00E5FF"/>
                </a:solidFill>
                <a:latin typeface="Calibri"/>
              </a:rPr>
              <a:t>StatsController.cs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▸ GET  /api/stats/sessions  — all stored session summaries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▸ GET  /api/stats/user/{id} — per-user anomaly history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▸ Powers the analytics dashboard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3337560"/>
            <a:ext cx="5623560" cy="1737360"/>
          </a:xfrm>
          <a:prstGeom prst="rect">
            <a:avLst/>
          </a:prstGeom>
          <a:solidFill>
            <a:srgbClr val="0D1B2A"/>
          </a:solidFill>
          <a:ln w="19050">
            <a:solidFill>
              <a:srgbClr val="607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3447288"/>
            <a:ext cx="5349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00E5FF"/>
                </a:solidFill>
                <a:latin typeface="Calibri"/>
              </a:rPr>
              <a:t>Infrastructure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▸ SQLite DB (behave_dev.db) — users, sessions, scores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▸ SignalR Hub — real-time score streaming to dashboard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▸ Program.cs — DI container, JWT config, CORS policy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▸ Render.yaml — one-click cloud deployment on Render.com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7B8B"/>
                </a:solidFill>
                <a:latin typeface="Calibri"/>
              </a:rPr>
              <a:t>BEHAVE-SEC  |  Behavioral Biometrics Authentication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6019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7B8B"/>
                </a:solidFill>
                <a:latin typeface="Calibri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E5FF"/>
                </a:solidFill>
                <a:latin typeface="Calibri"/>
              </a:rPr>
              <a:t>Frontend Design &amp; Intruder Challenge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  <a:latin typeface="Calibri"/>
              </a:rPr>
              <a:t>Dark cybersecurity UI — event capture + 3-phase enrollment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171" y="1115568"/>
            <a:ext cx="10360609" cy="254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5303520" cy="4846320"/>
          </a:xfrm>
          <a:prstGeom prst="rect">
            <a:avLst/>
          </a:prstGeom>
          <a:solidFill>
            <a:srgbClr val="0D1B2A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FF"/>
                </a:solidFill>
                <a:latin typeface="Calibri"/>
              </a:rPr>
              <a:t>Pages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64792"/>
            <a:ext cx="2743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E5FF"/>
                </a:solidFill>
                <a:latin typeface="Calibri"/>
              </a:rPr>
              <a:t>index.html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764792"/>
            <a:ext cx="21945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E"/>
                </a:solidFill>
                <a:latin typeface="Calibri"/>
              </a:rPr>
              <a:t>Landing / marketing page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85416"/>
            <a:ext cx="2743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9FF14"/>
                </a:solidFill>
                <a:latin typeface="Calibri"/>
              </a:rPr>
              <a:t>signup.html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185416"/>
            <a:ext cx="21945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E"/>
                </a:solidFill>
                <a:latin typeface="Calibri"/>
              </a:rPr>
              <a:t>User registration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06040"/>
            <a:ext cx="2743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E5FF"/>
                </a:solidFill>
                <a:latin typeface="Calibri"/>
              </a:rPr>
              <a:t>login.html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606040"/>
            <a:ext cx="21945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E"/>
                </a:solidFill>
                <a:latin typeface="Calibri"/>
              </a:rPr>
              <a:t>Login with behavioral capture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026664"/>
            <a:ext cx="2743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9FF14"/>
                </a:solidFill>
                <a:latin typeface="Calibri"/>
              </a:rPr>
              <a:t>challenge.html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3026664"/>
            <a:ext cx="21945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E"/>
                </a:solidFill>
                <a:latin typeface="Calibri"/>
              </a:rPr>
              <a:t>Phase 1: Keyboard typing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447288"/>
            <a:ext cx="2743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E5FF"/>
                </a:solidFill>
                <a:latin typeface="Calibri"/>
              </a:rPr>
              <a:t>mouse-challenge.html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3447288"/>
            <a:ext cx="21945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E"/>
                </a:solidFill>
                <a:latin typeface="Calibri"/>
              </a:rPr>
              <a:t>Phase 2: Mouse target clicking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867912"/>
            <a:ext cx="2743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9FF14"/>
                </a:solidFill>
                <a:latin typeface="Calibri"/>
              </a:rPr>
              <a:t>assessment-with-tracking.html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3867912"/>
            <a:ext cx="21945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E"/>
                </a:solidFill>
                <a:latin typeface="Calibri"/>
              </a:rPr>
              <a:t>Full behavioral assessment 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288536"/>
            <a:ext cx="2743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E5FF"/>
                </a:solidFill>
                <a:latin typeface="Calibri"/>
              </a:rPr>
              <a:t>dashboard.html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4288536"/>
            <a:ext cx="21945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E"/>
                </a:solidFill>
                <a:latin typeface="Calibri"/>
              </a:rPr>
              <a:t>Real-time anomaly score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709160"/>
            <a:ext cx="2743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9FF14"/>
                </a:solidFill>
                <a:latin typeface="Calibri"/>
              </a:rPr>
              <a:t>analysis.html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4709160"/>
            <a:ext cx="21945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E"/>
                </a:solidFill>
                <a:latin typeface="Calibri"/>
              </a:rPr>
              <a:t>Per-session feature breakdown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129784"/>
            <a:ext cx="2743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E5FF"/>
                </a:solidFill>
                <a:latin typeface="Calibri"/>
              </a:rPr>
              <a:t>fingerprint.html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129784"/>
            <a:ext cx="21945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E"/>
                </a:solidFill>
                <a:latin typeface="Calibri"/>
              </a:rPr>
              <a:t>Behavioral fingerprint visualization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550408"/>
            <a:ext cx="2743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9FF14"/>
                </a:solidFill>
                <a:latin typeface="Calibri"/>
              </a:rPr>
              <a:t>mfa.html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46120" y="5550408"/>
            <a:ext cx="21945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E"/>
                </a:solidFill>
                <a:latin typeface="Calibri"/>
              </a:rPr>
              <a:t>Step-Up MFA trigger page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06440" y="1325880"/>
            <a:ext cx="6035040" cy="2286000"/>
          </a:xfrm>
          <a:prstGeom prst="rect">
            <a:avLst/>
          </a:prstGeom>
          <a:solidFill>
            <a:srgbClr val="0D1B2A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0" y="1435608"/>
            <a:ext cx="5760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00E5FF"/>
                </a:solidFill>
                <a:latin typeface="Calibri"/>
              </a:rPr>
              <a:t>3-Phase Intruder Challenge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▸ Phase 1 — Keyboard: User types sample text through 10+ sessions to train the model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▸ Phase 2 — Mouse: User clicks a series of targets; mouse dynamics captured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▸ Phase 3 — Intruder Test: Anonymous session scored; user labels it to give feedback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06440" y="3749039"/>
            <a:ext cx="6035040" cy="2377440"/>
          </a:xfrm>
          <a:prstGeom prst="rect">
            <a:avLst/>
          </a:prstGeom>
          <a:solidFill>
            <a:srgbClr val="0D1B2A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0" y="3858767"/>
            <a:ext cx="5760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00E5FF"/>
                </a:solidFill>
                <a:latin typeface="Calibri"/>
              </a:rPr>
              <a:t>Event Capture (JavaScript)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▸ Listeners on:  keydown, keyup, mousemove, click, scroll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▸ Mouse events throttled to 100 ms intervals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▸ Data stored in behavioralData[] array, POSTed as JSON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▸ Real-time event counter + anomaly gauge in UI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7B8B"/>
                </a:solidFill>
                <a:latin typeface="Calibri"/>
              </a:rPr>
              <a:t>BEHAVE-SEC  |  Behavioral Biometrics Authentication System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64240" y="66019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7B8B"/>
                </a:solidFill>
                <a:latin typeface="Calibri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E5FF"/>
                </a:solidFill>
                <a:latin typeface="Calibri"/>
              </a:rPr>
              <a:t>Database &amp; Model Persistence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  <a:latin typeface="Calibri"/>
              </a:rPr>
              <a:t>SQLite for app data · joblib + NumPy for ML state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171" y="1115568"/>
            <a:ext cx="10360609" cy="254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5623560" cy="3840480"/>
          </a:xfrm>
          <a:prstGeom prst="rect">
            <a:avLst/>
          </a:prstGeom>
          <a:solidFill>
            <a:srgbClr val="0D1B2A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35608"/>
            <a:ext cx="5349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00E5FF"/>
                </a:solidFill>
                <a:latin typeface="Calibri"/>
              </a:rPr>
              <a:t>SQLite Database  (behave_dev.db)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▸ Managed by C# ASP.NET Core via Entity Framework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▸ Tables: Users, Sessions, AnomalyScores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▸ Stores: username, hashed password, JWT token refs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▸ Session history with timestamp + anomaly score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▸ Queried by StatsController for analytics dashboard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325880"/>
            <a:ext cx="5623560" cy="3840480"/>
          </a:xfrm>
          <a:prstGeom prst="rect">
            <a:avLst/>
          </a:prstGeom>
          <a:solidFill>
            <a:srgbClr val="0D1B2A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435608"/>
            <a:ext cx="5349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00E5FF"/>
                </a:solidFill>
                <a:latin typeface="Calibri"/>
              </a:rPr>
              <a:t>ML Model Files  (per user)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▸ anomaly_detector_{user_id}.pkl
    →  trained OneClassSVM + StandardScaler  (joblib)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▸ training_data_{user_id}.npy
    →  all buffered feature vectors  (NumPy)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▸ master_centroid_{user_id}.npy
    →  mean profile vector for drift detection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▸ global_human_model.pkl
    →  shared bot detection baseline 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5303520"/>
            <a:ext cx="11521440" cy="658368"/>
          </a:xfrm>
          <a:prstGeom prst="rect">
            <a:avLst/>
          </a:prstGeom>
          <a:solidFill>
            <a:srgbClr val="00152A"/>
          </a:solidFill>
          <a:ln w="12700">
            <a:solidFill>
              <a:srgbClr val="607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534924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B0C4DE"/>
                </a:solidFill>
                <a:latin typeface="Calibri"/>
              </a:rPr>
              <a:t>💡  On startup: AnomalyDetector automatically loads all 4 files from disk — zero cold-start penalty after the first training run.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7B8B"/>
                </a:solidFill>
                <a:latin typeface="Calibri"/>
              </a:rPr>
              <a:t>BEHAVE-SEC  |  Behavioral Biometrics Authentication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6019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7B8B"/>
                </a:solidFill>
                <a:latin typeface="Calibri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E5FF"/>
                </a:solidFill>
                <a:latin typeface="Calibri"/>
              </a:rPr>
              <a:t>Security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  <a:latin typeface="Calibri"/>
              </a:rPr>
              <a:t>Defense-in-depth across all system layers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171" y="1115568"/>
            <a:ext cx="10360609" cy="254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5669280" cy="1417320"/>
          </a:xfrm>
          <a:prstGeom prst="rect">
            <a:avLst/>
          </a:prstGeom>
          <a:solidFill>
            <a:srgbClr val="0D1B2A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399032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39FF14"/>
                </a:solidFill>
                <a:latin typeface="Calibri"/>
              </a:rPr>
              <a:t>Credential Theft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399032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39FF14"/>
                </a:solidFill>
                <a:latin typeface="Calibri"/>
              </a:rPr>
              <a:t>✅ Mitigated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1801368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  <a:latin typeface="Calibri"/>
              </a:rPr>
              <a:t>Behavioral layer rejects intruder even with
stolen password — wrong typing rhythm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862072"/>
            <a:ext cx="5669280" cy="1417320"/>
          </a:xfrm>
          <a:prstGeom prst="rect">
            <a:avLst/>
          </a:prstGeom>
          <a:solidFill>
            <a:srgbClr val="0D1B2A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2935224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39FF14"/>
                </a:solidFill>
                <a:latin typeface="Calibri"/>
              </a:rPr>
              <a:t>Bot / Script Attack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935224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39FF14"/>
                </a:solidFill>
                <a:latin typeface="Calibri"/>
              </a:rPr>
              <a:t>✅ Mitigated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3337560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  <a:latin typeface="Calibri"/>
              </a:rPr>
              <a:t>Kinematic check + global human model
catch automated sessions immediately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98264"/>
            <a:ext cx="5669280" cy="1417320"/>
          </a:xfrm>
          <a:prstGeom prst="rect">
            <a:avLst/>
          </a:prstGeom>
          <a:solidFill>
            <a:srgbClr val="0D1B2A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" y="4471416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39FF14"/>
                </a:solidFill>
                <a:latin typeface="Calibri"/>
              </a:rPr>
              <a:t>Model Poisoning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4471416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39FF14"/>
                </a:solidFill>
                <a:latin typeface="Calibri"/>
              </a:rPr>
              <a:t>✅ Mitigated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" y="4873752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  <a:latin typeface="Calibri"/>
              </a:rPr>
              <a:t>Cosine similarity drift check blocks
forged 'owner' feedback + triggers MFA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1325880"/>
            <a:ext cx="5669280" cy="1417320"/>
          </a:xfrm>
          <a:prstGeom prst="rect">
            <a:avLst/>
          </a:prstGeom>
          <a:solidFill>
            <a:srgbClr val="0D1B2A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1399032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39FF14"/>
                </a:solidFill>
                <a:latin typeface="Calibri"/>
              </a:rPr>
              <a:t>Session Replay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69880" y="1399032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39FF14"/>
                </a:solidFill>
                <a:latin typeface="Calibri"/>
              </a:rPr>
              <a:t>✅ Mitigated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1801368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  <a:latin typeface="Calibri"/>
              </a:rPr>
              <a:t>Events are timestamped + session-scoped;
replayed sessions produce different timings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2862072"/>
            <a:ext cx="5669280" cy="1417320"/>
          </a:xfrm>
          <a:prstGeom prst="rect">
            <a:avLst/>
          </a:prstGeom>
          <a:solidFill>
            <a:srgbClr val="0D1B2A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3368" y="2935224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6B35"/>
                </a:solidFill>
                <a:latin typeface="Calibri"/>
              </a:rPr>
              <a:t>MITM / Eavesdropping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69880" y="2935224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6B35"/>
                </a:solidFill>
                <a:latin typeface="Calibri"/>
              </a:rPr>
              <a:t>⚠️ Prod Config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3337560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  <a:latin typeface="Calibri"/>
              </a:rPr>
              <a:t>JWT auth + HTTPS in production;
payloads are numeric features, not raw keys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4398264"/>
            <a:ext cx="5669280" cy="1417320"/>
          </a:xfrm>
          <a:prstGeom prst="rect">
            <a:avLst/>
          </a:prstGeom>
          <a:solidFill>
            <a:srgbClr val="0D1B2A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73368" y="4471416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39FF14"/>
                </a:solidFill>
                <a:latin typeface="Calibri"/>
              </a:rPr>
              <a:t>Behavioral Mimicry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69880" y="4471416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39FF14"/>
                </a:solidFill>
                <a:latin typeface="Calibri"/>
              </a:rPr>
              <a:t>✅ Mitigated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4873752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C4DE"/>
                </a:solidFill>
                <a:latin typeface="Calibri"/>
              </a:rPr>
              <a:t>Replicating 28 simultaneous features
(digraphs, acceleration, curvature) is impractical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7B8B"/>
                </a:solidFill>
                <a:latin typeface="Calibri"/>
              </a:rPr>
              <a:t>BEHAVE-SEC  |  Behavioral Biometrics Authentication System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6019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7B8B"/>
                </a:solidFill>
                <a:latin typeface="Calibri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E5FF"/>
                </a:solidFill>
                <a:latin typeface="Calibri"/>
              </a:rPr>
              <a:t>Results, Testing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  <a:latin typeface="Calibri"/>
              </a:rPr>
              <a:t>Quantified performance — from hyperparameter search to end-to-end tests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171" y="1115568"/>
            <a:ext cx="10360609" cy="254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2240280" cy="1600200"/>
          </a:xfrm>
          <a:prstGeom prst="rect">
            <a:avLst/>
          </a:prstGeom>
          <a:solidFill>
            <a:srgbClr val="0D1B2A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371600"/>
            <a:ext cx="2240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E5FF"/>
                </a:solidFill>
                <a:latin typeface="Calibri"/>
              </a:rPr>
              <a:t>96%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221992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B0C4DE"/>
                </a:solidFill>
                <a:latin typeface="Calibri"/>
              </a:rPr>
              <a:t>Balanced
Accuracy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325880"/>
            <a:ext cx="2240280" cy="1600200"/>
          </a:xfrm>
          <a:prstGeom prst="rect">
            <a:avLst/>
          </a:prstGeom>
          <a:solidFill>
            <a:srgbClr val="0D1B2A"/>
          </a:solidFill>
          <a:ln w="2540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1371600"/>
            <a:ext cx="2240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39FF14"/>
                </a:solidFill>
                <a:latin typeface="Calibri"/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221992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B0C4DE"/>
                </a:solidFill>
                <a:latin typeface="Calibri"/>
              </a:rPr>
              <a:t>Owner
Acceptance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1325880"/>
            <a:ext cx="2240280" cy="1600200"/>
          </a:xfrm>
          <a:prstGeom prst="rect">
            <a:avLst/>
          </a:prstGeom>
          <a:solidFill>
            <a:srgbClr val="0D1B2A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1371600"/>
            <a:ext cx="2240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6B35"/>
                </a:solidFill>
                <a:latin typeface="Calibri"/>
              </a:rPr>
              <a:t>92%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221992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B0C4DE"/>
                </a:solidFill>
                <a:latin typeface="Calibri"/>
              </a:rPr>
              <a:t>Intruder
Rejection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06640" y="1325880"/>
            <a:ext cx="2240280" cy="1600200"/>
          </a:xfrm>
          <a:prstGeom prst="rect">
            <a:avLst/>
          </a:prstGeom>
          <a:solidFill>
            <a:srgbClr val="0D1B2A"/>
          </a:solidFill>
          <a:ln w="2540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1371600"/>
            <a:ext cx="2240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B0C4DE"/>
                </a:solidFill>
                <a:latin typeface="Calibri"/>
              </a:rPr>
              <a:t>&lt; 50ms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2221992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B0C4DE"/>
                </a:solidFill>
                <a:latin typeface="Calibri"/>
              </a:rPr>
              <a:t>Scoring
Latency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784080" y="1325880"/>
            <a:ext cx="2240280" cy="1600200"/>
          </a:xfrm>
          <a:prstGeom prst="rect">
            <a:avLst/>
          </a:prstGeom>
          <a:solidFill>
            <a:srgbClr val="0D1B2A"/>
          </a:solidFill>
          <a:ln w="2540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0" y="1371600"/>
            <a:ext cx="2240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39FF14"/>
                </a:solidFill>
                <a:latin typeface="Calibri"/>
              </a:rP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2221992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B0C4DE"/>
                </a:solidFill>
                <a:latin typeface="Calibri"/>
              </a:rPr>
              <a:t>Bot Detection
Rate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108960"/>
            <a:ext cx="5623560" cy="1828800"/>
          </a:xfrm>
          <a:prstGeom prst="rect">
            <a:avLst/>
          </a:prstGeom>
          <a:solidFill>
            <a:srgbClr val="0D1B2A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218688"/>
            <a:ext cx="5349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00E5FF"/>
                </a:solidFill>
                <a:latin typeface="Calibri"/>
              </a:rPr>
              <a:t>Hyperparameter Grid-Search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▸ Grid: nu ∈ [0.001, 0.01, 0.05, 0.1] × gamma ∈ ['scale','auto',0.01,0.001]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▸ Best: nu=0.01, gamma='scale'  →  96% balanced accuracy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▸ Threshold 0.55 calibrated:  100% owner acceptance, 92% intruder rejection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3108960"/>
            <a:ext cx="5623560" cy="1828800"/>
          </a:xfrm>
          <a:prstGeom prst="rect">
            <a:avLst/>
          </a:prstGeom>
          <a:solidFill>
            <a:srgbClr val="0D1B2A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3218688"/>
            <a:ext cx="5349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00E5FF"/>
                </a:solidFill>
                <a:latin typeface="Calibri"/>
              </a:rPr>
              <a:t>Test Scenarios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▸ Unit Tests:  extract_features() output shape + values verified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▸ Integration:  Browser → C# → Python → score full pipeline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▸ Bot Test:  path_directness_ratio = 1.0 → 'bot (kinematic)' ✅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▸ Drift Test:  Forged feedback blocked, MFA triggered ✅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▸ Active Learning:  Accuracy improves monotonically with feedback 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5074920"/>
            <a:ext cx="11521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607B8B"/>
                </a:solidFill>
                <a:latin typeface="Calibri"/>
              </a:rPr>
              <a:t>Limitation: Requires min. 10 sessions to train (pending state). Behavioral patterns may shift with fatigue/injury — periodic re-enrollment recommended.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7B8B"/>
                </a:solidFill>
                <a:latin typeface="Calibri"/>
              </a:rPr>
              <a:t>BEHAVE-SEC  |  Behavioral Biometrics Authentication 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6019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7B8B"/>
                </a:solidFill>
                <a:latin typeface="Calibri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E5FF"/>
                </a:solidFill>
                <a:latin typeface="Calibri"/>
              </a:rPr>
              <a:t>Conclusion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  <a:latin typeface="Calibri"/>
              </a:rPr>
              <a:t>What was built — and what comes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171" y="1115568"/>
            <a:ext cx="10360609" cy="254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5623560" cy="4892040"/>
          </a:xfrm>
          <a:prstGeom prst="rect">
            <a:avLst/>
          </a:prstGeom>
          <a:solidFill>
            <a:srgbClr val="0D1B2A"/>
          </a:solidFill>
          <a:ln w="19050">
            <a:solidFill>
              <a:srgbClr val="39F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35608"/>
            <a:ext cx="534924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00E5FF"/>
                </a:solidFill>
                <a:latin typeface="Calibri"/>
              </a:rPr>
              <a:t>✅  Key Achievements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▸ 28-feature multimodal behavioral fingerprint (keyboard + mouse)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▸ Per-user One-Class SVM — 96% balanced accuracy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▸ 100% owner acceptance / 92% intruder rejection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▸ Zero-day bot detection via kinematic path analysis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▸ Active learning feedback loop — model improves with use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▸ Poisoning-attack resistance via cosine drift check + MFA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▸ Full-stack: Python FastAPI + C# ASP.NET Core + HTML/JS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325880"/>
            <a:ext cx="5623560" cy="4892040"/>
          </a:xfrm>
          <a:prstGeom prst="rect">
            <a:avLst/>
          </a:prstGeom>
          <a:solidFill>
            <a:srgbClr val="0D1B2A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435608"/>
            <a:ext cx="534924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00E5FF"/>
                </a:solidFill>
                <a:latin typeface="Calibri"/>
              </a:rPr>
              <a:t>🔲  Future Work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▸ Mobile behavioral biometrics (swipe dynamics, gyroscope)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▸ Federated learning — train on-device, preserve privacy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▸ Larger global human baseline dataset for bot model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▸ Explainability dashboard — which features triggered alert?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▸ FIDO2 / WebAuthn integration for industry standards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▸ Adaptive threshold based on real-time session risk level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▸ Session replay visualization for security analysts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309360"/>
            <a:ext cx="12188952" cy="2743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30936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0A14"/>
                </a:solidFill>
                <a:latin typeface="Calibri"/>
              </a:rPr>
              <a:t>BEHAVE-SEC  —  Behavioral Intelligence for a Safer Digital World  🛡️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7B8B"/>
                </a:solidFill>
                <a:latin typeface="Calibri"/>
              </a:rPr>
              <a:t>BEHAVE-SEC  |  Behavioral Biometrics Authentication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6019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7B8B"/>
                </a:solidFill>
                <a:latin typeface="Calibri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